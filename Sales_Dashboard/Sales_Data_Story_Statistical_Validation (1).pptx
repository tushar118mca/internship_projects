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E87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34A"/>
              </a:solidFill>
              <a:ln w="9525" cap="flat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10853990</c:v>
                </c:pt>
                <c:pt idx="1">
                  <c:v>11017185</c:v>
                </c:pt>
                <c:pt idx="2">
                  <c:v>13051317</c:v>
                </c:pt>
                <c:pt idx="3">
                  <c:v>12222700</c:v>
                </c:pt>
                <c:pt idx="4">
                  <c:v>10984689</c:v>
                </c:pt>
                <c:pt idx="5">
                  <c:v>12912333</c:v>
                </c:pt>
                <c:pt idx="6">
                  <c:v>11746227</c:v>
                </c:pt>
                <c:pt idx="7">
                  <c:v>9189744</c:v>
                </c:pt>
                <c:pt idx="8">
                  <c:v>9179896</c:v>
                </c:pt>
                <c:pt idx="9">
                  <c:v>12500936</c:v>
                </c:pt>
                <c:pt idx="10">
                  <c:v>12145389</c:v>
                </c:pt>
                <c:pt idx="11">
                  <c:v>12299904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74-40FE-A31D-87A4F1AB56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50602948</c:v>
                </c:pt>
                <c:pt idx="1">
                  <c:v>24971516</c:v>
                </c:pt>
                <c:pt idx="2">
                  <c:v>21431117</c:v>
                </c:pt>
                <c:pt idx="3">
                  <c:v>21262834</c:v>
                </c:pt>
                <c:pt idx="4">
                  <c:v>19835896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25-43B4-BF51-F52C50DB44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36-45</c:v>
                </c:pt>
                <c:pt idx="1">
                  <c:v>26-35</c:v>
                </c:pt>
                <c:pt idx="2">
                  <c:v>46-55</c:v>
                </c:pt>
                <c:pt idx="3">
                  <c:v>56+</c:v>
                </c:pt>
                <c:pt idx="4">
                  <c:v>18-25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31392232</c:v>
                </c:pt>
                <c:pt idx="1">
                  <c:v>29151448</c:v>
                </c:pt>
                <c:pt idx="2">
                  <c:v>28216509</c:v>
                </c:pt>
                <c:pt idx="3">
                  <c:v>27386971</c:v>
                </c:pt>
                <c:pt idx="4">
                  <c:v>21957152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8-418A-95D5-8D514560B2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06-493F-9BAC-974C7FD894A4}"/>
              </c:ext>
            </c:extLst>
          </c:dPt>
          <c:dPt>
            <c:idx val="1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06-493F-9BAC-974C7FD894A4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06-493F-9BAC-974C7FD894A4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06-493F-9BAC-974C7FD894A4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50.9</c:v>
                </c:pt>
                <c:pt idx="1">
                  <c:v>49.1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06-493F-9BAC-974C7FD894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Patna</c:v>
                </c:pt>
                <c:pt idx="1">
                  <c:v>Mumbai</c:v>
                </c:pt>
                <c:pt idx="2">
                  <c:v>Kolkata</c:v>
                </c:pt>
                <c:pt idx="3">
                  <c:v>Bengaluru</c:v>
                </c:pt>
                <c:pt idx="4">
                  <c:v>Hyderabad</c:v>
                </c:pt>
                <c:pt idx="5">
                  <c:v>Delhi</c:v>
                </c:pt>
                <c:pt idx="6">
                  <c:v>Gaya</c:v>
                </c:pt>
                <c:pt idx="7">
                  <c:v>Pune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19285967</c:v>
                </c:pt>
                <c:pt idx="1">
                  <c:v>18586480</c:v>
                </c:pt>
                <c:pt idx="2">
                  <c:v>18574031</c:v>
                </c:pt>
                <c:pt idx="3">
                  <c:v>18418711</c:v>
                </c:pt>
                <c:pt idx="4">
                  <c:v>17166767</c:v>
                </c:pt>
                <c:pt idx="5">
                  <c:v>16097079</c:v>
                </c:pt>
                <c:pt idx="6">
                  <c:v>14380859</c:v>
                </c:pt>
                <c:pt idx="7">
                  <c:v>14194813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BE-4843-8FD8-0AD9E3AAC3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144</c:v>
                </c:pt>
                <c:pt idx="1">
                  <c:v>125</c:v>
                </c:pt>
                <c:pt idx="2">
                  <c:v>145</c:v>
                </c:pt>
                <c:pt idx="3">
                  <c:v>149</c:v>
                </c:pt>
                <c:pt idx="4">
                  <c:v>145</c:v>
                </c:pt>
                <c:pt idx="5">
                  <c:v>133</c:v>
                </c:pt>
                <c:pt idx="6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33-4FF8-ADE1-C8D368FC00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99-4848-AA23-0023A3D08FE7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99-4848-AA23-0023A3D08FE7}"/>
              </c:ext>
            </c:extLst>
          </c:dPt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Electronics
(n=352)</c:v>
                </c:pt>
                <c:pt idx="1">
                  <c:v>Other categories
(n=640)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143758</c:v>
                </c:pt>
                <c:pt idx="1">
                  <c:v>136721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99-4848-AA23-0023A3D08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Education</c:v>
                </c:pt>
                <c:pt idx="1">
                  <c:v>Electronics</c:v>
                </c:pt>
                <c:pt idx="2">
                  <c:v>Fashion</c:v>
                </c:pt>
                <c:pt idx="3">
                  <c:v>Furniture</c:v>
                </c:pt>
                <c:pt idx="4">
                  <c:v>Grocery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194</c:v>
                </c:pt>
                <c:pt idx="2">
                  <c:v>67</c:v>
                </c:pt>
                <c:pt idx="3">
                  <c:v>84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60-4D57-950F-86F3758078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Education</c:v>
                </c:pt>
                <c:pt idx="1">
                  <c:v>Electronics</c:v>
                </c:pt>
                <c:pt idx="2">
                  <c:v>Fashion</c:v>
                </c:pt>
                <c:pt idx="3">
                  <c:v>Furniture</c:v>
                </c:pt>
                <c:pt idx="4">
                  <c:v>Grocery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158</c:v>
                </c:pt>
                <c:pt idx="2">
                  <c:v>89</c:v>
                </c:pt>
                <c:pt idx="3">
                  <c:v>74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60-4D57-950F-86F3758078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72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1153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Performance: From Data to Decisions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3741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narrative built on the FY2025 sales dataset, closing with hypothesis testing to validate key revenue findings.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77565"/>
            <a:ext cx="18630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503170" y="3388995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₹138.1M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82491" y="3388995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₹139K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61812" y="3388995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
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4764C-6DC6-4C9D-1A5C-35CD4B08EBA7}"/>
              </a:ext>
            </a:extLst>
          </p:cNvPr>
          <p:cNvSpPr txBox="1"/>
          <p:nvPr/>
        </p:nvSpPr>
        <p:spPr>
          <a:xfrm>
            <a:off x="8713469" y="3337560"/>
            <a:ext cx="186309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662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every finding from the sales analysis into a single, compelling business narrative — then apply statistical methods to add rigor and validate the key claims before they reach stakeholders.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2826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data story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5935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Parts 1-3 findings into a narrative with a clear objective, analysis, conclusion and call to 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1970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presentation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5079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concise, visual deck that leads with business impact, not raw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114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statistics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4223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two business hypotheses with a t-test and a chi-squared test; report p-values and confidence intervals.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554480"/>
            <a:ext cx="3977640" cy="46634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414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044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581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5 categories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4714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184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5266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From Raw Data to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2140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90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1,000-row export: orders, customers, products, dates.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0048" y="3017520"/>
            <a:ext cx="164592" cy="0"/>
          </a:xfrm>
          <a:prstGeom prst="line">
            <a:avLst/>
          </a:prstGeom>
          <a:noFill/>
          <a:ln w="28575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19202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12140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17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606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090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imputed missing Age/City, standardized text and dates. 992 rows retained.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82896" y="3017520"/>
            <a:ext cx="164592" cy="0"/>
          </a:xfrm>
          <a:prstGeom prst="line">
            <a:avLst/>
          </a:prstGeom>
          <a:noFill/>
          <a:ln w="28575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19202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230368" y="212140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303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606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090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Age_Group, Order_Year/Quarter/Weekday from raw fields.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95744" y="3017520"/>
            <a:ext cx="164592" cy="0"/>
          </a:xfrm>
          <a:prstGeom prst="line">
            <a:avLst/>
          </a:prstGeom>
          <a:noFill/>
          <a:ln w="28575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78624" y="19202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443216" y="212140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43216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2606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(PostgreSQL)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43216" y="3090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dim_customers, dim_products, fact_orders for SQL analysis.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08592" y="3017520"/>
            <a:ext cx="164592" cy="0"/>
          </a:xfrm>
          <a:prstGeom prst="line">
            <a:avLst/>
          </a:prstGeom>
          <a:noFill/>
          <a:ln w="28575">
            <a:solidFill>
              <a:srgbClr val="E873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91472" y="19202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9656064" y="2121408"/>
            <a:ext cx="365760" cy="3657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56064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656064" y="26060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56064" y="3090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and chi-squared test confirm which patterns are real vs. noise.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matplotlib, seaborn) for cleaning and EDA  ·  PostgreSQL + SQLAlchemy for the star schema and business queries  ·  SciPy for hypothesis testing  ·  Jupyter Notebook throughout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of sales activity, synthesized into four headline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₹138.1M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992 orders in FY2025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908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category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₹50.6M · 37% of 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08008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27249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₹19.3M · narrow lead over Mumbai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881360" cy="2606040"/>
          </a:xfrm>
          <a:prstGeom prst="roundRect">
            <a:avLst>
              <a:gd name="adj" fmla="val 3922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8450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so far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but seasonal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March peak and an August-September dip roughly 30% below the yearly average, worth planning promotions around.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revenue through volume, not premium pricing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leads total revenue but its average order value is statistically indistinguishable from every other category (tested on the next slides).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broad and balanced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near-even gender split (50.9% / 49.1%) and revenue spread evenly across 8 cities, with the 36-45 age group leading spend.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across FY2025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shows a March peak and a pronounced Aug-Sep trough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554480"/>
            <a:ext cx="3063240" cy="4663440"/>
          </a:xfrm>
          <a:prstGeom prst="roundRect">
            <a:avLst>
              <a:gd name="adj" fmla="val 2985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3252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March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₹13.1M — the year's strongest month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Trough: Aug-Sep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3192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₹9.2M and ₹9.2M — roughly 30% below the average month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Q4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43708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Oct-Dec rebound back to ₹12.3M+/month, closing the year strong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5257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the mid-year dip lines up with typical seasonal slowdown — a natural window for a targeted promotion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sells: category and product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by revenue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0" y="16916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947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₹25.3M in revenue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2770632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3026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₹25.3M in revenue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849624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410565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306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₹25.0M in revenue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5038344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3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5221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Laptop and Mobile are statistically tied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5504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revenue differs by less than ₹1K — well within normal variation across 992 orders. Together they make up most of Electronics' lead.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buys: customer segments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600" dirty="0"/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586487590"/>
              </p:ext>
            </p:extLst>
          </p:nvPr>
        </p:nvGraphicFramePr>
        <p:xfrm>
          <a:off x="6400799" y="1554480"/>
          <a:ext cx="338328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4480560"/>
            <a:ext cx="4709160" cy="1554480"/>
          </a:xfrm>
          <a:prstGeom prst="roundRect">
            <a:avLst>
              <a:gd name="adj" fmla="val 5882"/>
            </a:avLst>
          </a:prstGeom>
          <a:solidFill>
            <a:srgbClr val="F5F7F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46634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an even split — 50.9% male, 49.1% female — with no single segment dominating spend. The 36-45 age band leads revenue, but every group contributes meaningfully.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Where: Revenue by City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evenly across 8 cities — no single market dominates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71323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55448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SPREAD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city: Patna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450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₹19.3M — leads by less than 4% over Mumbai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clustered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3192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cities (Patna, Mumbai, Kolkata, Bengaluru) each earn within ~5% of each other — around ₹18.5M apiece.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Pune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45079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₹14.2M — still within a normal range, not an outlier.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demand is geographically diversified. There's no single city to over-index marketing spend on — and no city so weak it needs rescuing.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When: order pattern by day of week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remarkably flat across the week — no strong weekday/weekend split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223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429000" cy="448056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PATTERN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125-151 orders/day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4963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of just 26 orders between the busiest day (Sunday) and quietest (Tuesday) across the full year.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weekend spike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6850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actually the lightest weekend day (133 orders) — customers order on any day, not just around free time.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4663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campaigns and stock replenishment don't need a weekday/weekend rhythm — demand is steady daily, so the Aug-Sep seasonal dip (not day-of-week) is the real lever to plan around.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12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9244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testing: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dding statistical rigor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79" y="1716786"/>
            <a:ext cx="9920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claims two things: Electronics earns more per order, and gender shapes what people buy. Before those go into a stakeholder deck, we test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79" y="2751619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1406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t-test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318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Electronics category earn a significantly higher average order value than other categories?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65520" y="2751619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141A47"/>
          </a:solidFill>
          <a:ln w="12700">
            <a:solidFill>
              <a:srgbClr val="E87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28392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Chi-squared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3003079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customer's product category choice independent of their gender?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1: Electronics vs. all other categories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on average order value (Total_Sales)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is equal for Electronics and non-Electronics orders.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differs between the two groups.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069080" y="1417320"/>
          <a:ext cx="3566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863840" y="141732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1488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27706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0.3599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3924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of difference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0142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₹-8K to ₹22K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(Cohen's d)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46360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 (negligible)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92440" y="5084064"/>
            <a:ext cx="3200400" cy="18288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51937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 (p = 0.36 &gt; 0.05). The 95% CI crosses zero — we cannot conclude Electronics earns more per order.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0233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Electronics' revenue lead comes from order volume, not a higher-value basket — treat it as a demand story, not a pricing story.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2: Gender and category preference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of independence: Gender x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choice is independent of gender.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choice is associated with gender.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29260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380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32120" y="1417320"/>
            <a:ext cx="292608" cy="20116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97880" y="1380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069080" y="1783080"/>
          <a:ext cx="3749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046720" y="1417320"/>
            <a:ext cx="3474720" cy="50749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7532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14884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9.215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542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77063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39242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0.0559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3785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(Cramer's V)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01421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0.096 (small)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75320" y="4498848"/>
            <a:ext cx="3017520" cy="18288"/>
          </a:xfrm>
          <a:prstGeom prst="rect">
            <a:avLst/>
          </a:prstGeom>
          <a:solidFill>
            <a:srgbClr val="3A459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75320" y="4608576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(p = 0.056, just above 0.05). Not significant at the standard threshold, but close enough to flag as a trend worth re-testing on more data.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6576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no strong evidence to justify gender-targeted category marketing today — but Electronics' slight male skew is worth an A/B test before investing further.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recommended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01368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184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Aug-Sep dip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~30% below average in Aug-Sep. Schedule a promotion or bundle campaign to smooth the seasonal trough.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254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volume, not price, on Electronics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455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category's revenue edge is statistically driven by order count, not basket size — marketing should target reach, not upsell.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15384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3250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gender-based category targeting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5254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Gender x Category link is not significant (p = 0.056). Re-test with a larger sample before building a segmented campaign.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22392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3951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36-45 segment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5595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 band leads revenue by a clear margin — a natural focus for loyalty or retention programs.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Assumptions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5320" y="1740705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025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Single-year snapshot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covers FY2025 only. Seasonal patterns (the Aug-Sep dip, the March peak) are observed once, not confirmed as recurring.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729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missing data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8386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rows had missing City, filled as "Unknown" rather than dropped, to preserve order-level revenue totals. This is just over 1% of orders.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1538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3434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sample sizes per test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5429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Electronics orders and a 5x2 gender/category table are enough for a first read, but borderline results (like the p = 0.056 chi-squared test) need more data to resolve confidently.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385816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5138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hypotheses tested, not exhaustive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category-value and gender-category associations were tested. Other relationships (age, city, seasonality) are described but not yet statistically validated.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Reading the Statistics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 for the terms used in the hypothesis testing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299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seeing a difference this large (or larger) if there were truly no effect. Below 0.05 is the conventional line for "statistically significant."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 (CI)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0299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likely to contain the true difference. If the 95% CI crosses zero, we can't rule out "no real difference."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91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301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standard errors apart the two group means are. Larger (positive or negative) means a bigger, more reliable gap.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91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statistic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301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far observed counts in a table are from what independence would predict. Larger values suggest a real association.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92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(Cohen's d)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303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a difference in standard-deviation units, independent of sample size. ~0.2 small, ~0.5 medium, ~0.8 large.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4892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(Cramer's V)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2303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Cohen's d but for categorical tables. 0-0.1 small, 0.1-0.3 medium, 0.3+ large association.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1651</Words>
  <Application>Microsoft Office PowerPoint</Application>
  <PresentationFormat>Widescreen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12</cp:revision>
  <dcterms:created xsi:type="dcterms:W3CDTF">2026-09-11T06:37:26Z</dcterms:created>
  <dcterms:modified xsi:type="dcterms:W3CDTF">2026-09-11T06:58:58Z</dcterms:modified>
</cp:coreProperties>
</file>