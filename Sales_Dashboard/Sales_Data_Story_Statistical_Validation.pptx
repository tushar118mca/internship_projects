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E87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34A"/>
              </a:solidFill>
              <a:ln w="9525" cap="flat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10853990</c:v>
                </c:pt>
                <c:pt idx="1">
                  <c:v>11017185</c:v>
                </c:pt>
                <c:pt idx="2">
                  <c:v>13051317</c:v>
                </c:pt>
                <c:pt idx="3">
                  <c:v>12222700</c:v>
                </c:pt>
                <c:pt idx="4">
                  <c:v>10984689</c:v>
                </c:pt>
                <c:pt idx="5">
                  <c:v>12912333</c:v>
                </c:pt>
                <c:pt idx="6">
                  <c:v>11746227</c:v>
                </c:pt>
                <c:pt idx="7">
                  <c:v>9189744</c:v>
                </c:pt>
                <c:pt idx="8">
                  <c:v>9179896</c:v>
                </c:pt>
                <c:pt idx="9">
                  <c:v>12500936</c:v>
                </c:pt>
                <c:pt idx="10">
                  <c:v>12145389</c:v>
                </c:pt>
                <c:pt idx="11">
                  <c:v>12299904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38-46E0-BFD8-28305C01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50602948</c:v>
                </c:pt>
                <c:pt idx="1">
                  <c:v>24971516</c:v>
                </c:pt>
                <c:pt idx="2">
                  <c:v>21431117</c:v>
                </c:pt>
                <c:pt idx="3">
                  <c:v>21262834</c:v>
                </c:pt>
                <c:pt idx="4">
                  <c:v>19835896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BF-44F8-B053-EEC00E4029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36-45</c:v>
                </c:pt>
                <c:pt idx="1">
                  <c:v>26-35</c:v>
                </c:pt>
                <c:pt idx="2">
                  <c:v>46-55</c:v>
                </c:pt>
                <c:pt idx="3">
                  <c:v>56+</c:v>
                </c:pt>
                <c:pt idx="4">
                  <c:v>18-25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31392232</c:v>
                </c:pt>
                <c:pt idx="1">
                  <c:v>29151448</c:v>
                </c:pt>
                <c:pt idx="2">
                  <c:v>28216509</c:v>
                </c:pt>
                <c:pt idx="3">
                  <c:v>27386971</c:v>
                </c:pt>
                <c:pt idx="4">
                  <c:v>21957152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0-485F-814B-21C3E265C9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A2-4979-BF99-FB6082B30B33}"/>
              </c:ext>
            </c:extLst>
          </c:dPt>
          <c:dPt>
            <c:idx val="1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A2-4979-BF99-FB6082B30B33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A2-4979-BF99-FB6082B30B33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A2-4979-BF99-FB6082B30B3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50.9</c:v>
                </c:pt>
                <c:pt idx="1">
                  <c:v>49.1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A2-4979-BF99-FB6082B30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EF-4350-B75B-343DB38275E2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EF-4350-B75B-343DB38275E2}"/>
              </c:ext>
            </c:extLst>
          </c:dPt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Electronics
(n=352)</c:v>
                </c:pt>
                <c:pt idx="1">
                  <c:v>Other categories
(n=640)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143758</c:v>
                </c:pt>
                <c:pt idx="1">
                  <c:v>136721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EF-4350-B75B-343DB38275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Education</c:v>
                </c:pt>
                <c:pt idx="1">
                  <c:v>Electronics</c:v>
                </c:pt>
                <c:pt idx="2">
                  <c:v>Fashion</c:v>
                </c:pt>
                <c:pt idx="3">
                  <c:v>Furniture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194</c:v>
                </c:pt>
                <c:pt idx="2">
                  <c:v>67</c:v>
                </c:pt>
                <c:pt idx="3">
                  <c:v>84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F9-45AC-B4DC-478E1B0AF7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Education</c:v>
                </c:pt>
                <c:pt idx="1">
                  <c:v>Electronics</c:v>
                </c:pt>
                <c:pt idx="2">
                  <c:v>Fashion</c:v>
                </c:pt>
                <c:pt idx="3">
                  <c:v>Furniture</c:v>
                </c:pt>
                <c:pt idx="4">
                  <c:v>Grocery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158</c:v>
                </c:pt>
                <c:pt idx="2">
                  <c:v>89</c:v>
                </c:pt>
                <c:pt idx="3">
                  <c:v>74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F9-45AC-B4DC-478E1B0AF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27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6751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531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923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823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8682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644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20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882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904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87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134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22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073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4840" y="1131570"/>
            <a:ext cx="108966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Performance: From Data to Decisions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24840" y="2834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narrative built on the FY2025 sales dataset, closing with hypothesis testing to validate key revenue findings.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583180" y="3714750"/>
            <a:ext cx="1897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₹138.1M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3726180"/>
            <a:ext cx="15773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₹139K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35140" y="371475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250E6-66BC-A6D7-B0FD-8E783D203821}"/>
              </a:ext>
            </a:extLst>
          </p:cNvPr>
          <p:cNvSpPr txBox="1"/>
          <p:nvPr/>
        </p:nvSpPr>
        <p:spPr>
          <a:xfrm>
            <a:off x="8561070" y="3656870"/>
            <a:ext cx="189738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every finding from the sales analysis into a single, compelling business narrative — then apply statistical methods to add rigor and validate the key claims before they reach stakeholders.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2826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data story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5935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Parts 1-3 findings into a narrative with a clear objective, analysis, conclusion and call to 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1970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presentation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5079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concise, visual deck that leads with business impact, not raw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114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statistics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4223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two business hypotheses with a t-test and a chi-squared test; report p-values and confidence intervals.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554480"/>
            <a:ext cx="3977640" cy="46634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414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44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581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5 categories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4714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184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5266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of sales activity, synthesized into four headline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₹138.1M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992 orders in FY2025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908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category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₹50.6M · 37% of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0800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₹19.3M · narrow lead over Mumbai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so far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but seasonal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March peak and an August-September dip roughly 30% below the yearly average, worth planning promotions around.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revenue through volume, not premium pricing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leads total revenue but its average order value is statistically indistinguishable from every other category (tested on the next slides).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broad and balanced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near-even gender split (50.9% / 49.1%) and revenue spread evenly across 8 cities, with the 36-45 age group leading spend.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across FY2025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shows a March peak and a pronounced Aug-Sep trough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554480"/>
            <a:ext cx="3063240" cy="4663440"/>
          </a:xfrm>
          <a:prstGeom prst="roundRect">
            <a:avLst>
              <a:gd name="adj" fmla="val 2985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325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March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₹13.1M — the year's strongest month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Trough: Aug-Sep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3192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₹9.2M and ₹9.2M — roughly 30% below the average month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Q4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43708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Oct-Dec rebound back to ₹12.3M+/month, closing the year strong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5257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sells: category and product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by revenue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947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₹25.3M in revenue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2770632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3026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₹25.3M in revenue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849624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41056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306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₹25.0M in revenue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5038344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3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5221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Laptop and Mobile are statistically tied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5504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revenue differs by less than ₹1K — well within normal variation across 992 orders. Together they make up most of Electronics' lead.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buys: customer segments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4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400800" y="1554480"/>
          <a:ext cx="3291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4480560"/>
            <a:ext cx="4709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46634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an even split — 50.9% male, 49.1% female — with no single segment dominating spend. The 36-45 age band leads revenue, but every group contributes meaningfully.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12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5237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: Adding statistical rigor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8114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claims two things: Electronics earns more per order, and gender shapes what people buy. Before those go into a stakeholder deck, we test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94175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2473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t-test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291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Electronics category earn a significantly higher average order value than other categories?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02682" y="3685032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2849" y="373030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Chi-squared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2849" y="3945635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customer's product category choice independent of their gender?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1: Electronics vs. all other categories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on average order value (Total_Sales)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is equal for Electronics and non-Electronics orders.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differs between the two groups.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069080" y="1417320"/>
          <a:ext cx="3566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863840" y="141732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1488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27706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0.3599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3924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of difference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0142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₹-8K to ₹22K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(Cohen's d)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6360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 (negligible)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92440" y="5084064"/>
            <a:ext cx="3200400" cy="18288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5193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 (p = 0.36 &gt; 0.05). The 95% CI crosses zero — we cannot conclude Electronics earns more per order.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0233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Electronics' revenue lead comes from order volume, not a higher-value basket — treat it as a demand story, not a pricing story.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2: Gender and category preference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of independence: Gender x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choice is independent of gender.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choice is associated with gender.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069080" y="1417320"/>
          <a:ext cx="3749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046720" y="1417320"/>
            <a:ext cx="3474720" cy="50749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14884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9.215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542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7706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39242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0.0559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785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(Cramer's V)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01421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0.096 (small)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75320" y="4498848"/>
            <a:ext cx="3017520" cy="18288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75320" y="46085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(p = 0.056, just above 0.05). Not significant at the standard threshold, but close enough to flag as a trend worth re-testing on more data.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6576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no strong evidence to justify gender-targeted category marketing today — but Electronics' slight male skew is worth an A/B test before investing further.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recommended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01368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184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Aug-Sep dip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~30% below average in Aug-Sep. Schedule a promotion or bundle campaign to smooth the seasonal trough.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254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volume, not price, on Electronics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455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category's revenue edge is statistically driven by order count, not basket size — marketing should target reach, not upsell.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15384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3250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gender-based category targeting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5254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Gender x Category link is not significant (p = 0.056). Re-test with a larger sample before building a segmented campaign.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22392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3951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36-45 segment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5595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 band leads revenue by a clear margin — a natural focus for loyalty or retention programs.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936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8</cp:revision>
  <dcterms:created xsi:type="dcterms:W3CDTF">2026-09-10T10:08:28Z</dcterms:created>
  <dcterms:modified xsi:type="dcterms:W3CDTF">2026-09-10T10:45:35Z</dcterms:modified>
</cp:coreProperties>
</file>